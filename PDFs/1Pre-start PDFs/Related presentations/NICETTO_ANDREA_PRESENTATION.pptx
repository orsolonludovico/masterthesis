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68" r:id="rId2"/>
    <p:sldId id="257" r:id="rId3"/>
    <p:sldId id="281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7" r:id="rId12"/>
    <p:sldId id="276" r:id="rId13"/>
    <p:sldId id="278" r:id="rId14"/>
    <p:sldId id="279" r:id="rId15"/>
  </p:sldIdLst>
  <p:sldSz cx="9144000" cy="6858000" type="screen4x3"/>
  <p:notesSz cx="9661525" cy="6880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0013"/>
    <a:srgbClr val="B21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3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D3F9BF1E-A3D4-1D35-A652-73D1EC7ECF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5" y="1"/>
            <a:ext cx="4186661" cy="345206"/>
          </a:xfrm>
          <a:prstGeom prst="rect">
            <a:avLst/>
          </a:prstGeom>
        </p:spPr>
        <p:txBody>
          <a:bodyPr vert="horz" lIns="94512" tIns="47255" rIns="94512" bIns="47255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3F3E3E3-B8F2-AB5E-4365-E9DB11B7011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472632" y="1"/>
            <a:ext cx="4186661" cy="345206"/>
          </a:xfrm>
          <a:prstGeom prst="rect">
            <a:avLst/>
          </a:prstGeom>
        </p:spPr>
        <p:txBody>
          <a:bodyPr vert="horz" lIns="94512" tIns="47255" rIns="94512" bIns="47255" rtlCol="0"/>
          <a:lstStyle>
            <a:lvl1pPr algn="r">
              <a:defRPr sz="1200"/>
            </a:lvl1pPr>
          </a:lstStyle>
          <a:p>
            <a:fld id="{6A9A1136-4BFB-4D96-ADA5-674A4801D8E3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98DAC47-B8AC-7C5E-6FCC-303E2CC59B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5" y="6535023"/>
            <a:ext cx="4186661" cy="345205"/>
          </a:xfrm>
          <a:prstGeom prst="rect">
            <a:avLst/>
          </a:prstGeom>
        </p:spPr>
        <p:txBody>
          <a:bodyPr vert="horz" lIns="94512" tIns="47255" rIns="94512" bIns="47255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89F70F7-4C53-8707-EBCC-C13B9231CE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472632" y="6535023"/>
            <a:ext cx="4186661" cy="345205"/>
          </a:xfrm>
          <a:prstGeom prst="rect">
            <a:avLst/>
          </a:prstGeom>
        </p:spPr>
        <p:txBody>
          <a:bodyPr vert="horz" lIns="94512" tIns="47255" rIns="94512" bIns="47255" rtlCol="0" anchor="b"/>
          <a:lstStyle>
            <a:lvl1pPr algn="r">
              <a:defRPr sz="1200"/>
            </a:lvl1pPr>
          </a:lstStyle>
          <a:p>
            <a:fld id="{110AF1A3-C324-45A0-83A0-4D8B7510A04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677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186661" cy="345206"/>
          </a:xfrm>
          <a:prstGeom prst="rect">
            <a:avLst/>
          </a:prstGeom>
        </p:spPr>
        <p:txBody>
          <a:bodyPr vert="horz" lIns="94512" tIns="47255" rIns="94512" bIns="47255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472632" y="1"/>
            <a:ext cx="4186661" cy="345206"/>
          </a:xfrm>
          <a:prstGeom prst="rect">
            <a:avLst/>
          </a:prstGeom>
        </p:spPr>
        <p:txBody>
          <a:bodyPr vert="horz" lIns="94512" tIns="47255" rIns="94512" bIns="47255" rtlCol="0"/>
          <a:lstStyle>
            <a:lvl1pPr algn="r">
              <a:defRPr sz="1200"/>
            </a:lvl1pPr>
          </a:lstStyle>
          <a:p>
            <a:fld id="{EC2211A0-FEA4-416F-8172-9D89B4CED722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282950" y="860425"/>
            <a:ext cx="3095625" cy="2322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2" tIns="47255" rIns="94512" bIns="47255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966153" y="3311110"/>
            <a:ext cx="7729220" cy="2709088"/>
          </a:xfrm>
          <a:prstGeom prst="rect">
            <a:avLst/>
          </a:prstGeom>
        </p:spPr>
        <p:txBody>
          <a:bodyPr vert="horz" lIns="94512" tIns="47255" rIns="94512" bIns="47255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5" y="6535023"/>
            <a:ext cx="4186661" cy="345205"/>
          </a:xfrm>
          <a:prstGeom prst="rect">
            <a:avLst/>
          </a:prstGeom>
        </p:spPr>
        <p:txBody>
          <a:bodyPr vert="horz" lIns="94512" tIns="47255" rIns="94512" bIns="47255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472632" y="6535023"/>
            <a:ext cx="4186661" cy="345205"/>
          </a:xfrm>
          <a:prstGeom prst="rect">
            <a:avLst/>
          </a:prstGeom>
        </p:spPr>
        <p:txBody>
          <a:bodyPr vert="horz" lIns="94512" tIns="47255" rIns="94512" bIns="47255" rtlCol="0" anchor="b"/>
          <a:lstStyle>
            <a:lvl1pPr algn="r">
              <a:defRPr sz="1200"/>
            </a:lvl1pPr>
          </a:lstStyle>
          <a:p>
            <a:fld id="{0C1D9A5A-E422-4FC6-A991-BA85EAEE76E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03492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4AC3F-F143-477D-BB12-1500F30296FD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0A3E6-63C8-4F7B-951A-B217F2CF26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020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4AC3F-F143-477D-BB12-1500F30296FD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0A3E6-63C8-4F7B-951A-B217F2CF26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895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4AC3F-F143-477D-BB12-1500F30296FD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0A3E6-63C8-4F7B-951A-B217F2CF26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82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4AC3F-F143-477D-BB12-1500F30296FD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0A3E6-63C8-4F7B-951A-B217F2CF26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450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4AC3F-F143-477D-BB12-1500F30296FD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0A3E6-63C8-4F7B-951A-B217F2CF26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68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4AC3F-F143-477D-BB12-1500F30296FD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0A3E6-63C8-4F7B-951A-B217F2CF26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534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4AC3F-F143-477D-BB12-1500F30296FD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0A3E6-63C8-4F7B-951A-B217F2CF26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886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4AC3F-F143-477D-BB12-1500F30296FD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0A3E6-63C8-4F7B-951A-B217F2CF26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864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4AC3F-F143-477D-BB12-1500F30296FD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0A3E6-63C8-4F7B-951A-B217F2CF26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263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4AC3F-F143-477D-BB12-1500F30296FD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0A3E6-63C8-4F7B-951A-B217F2CF26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989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4AC3F-F143-477D-BB12-1500F30296FD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0A3E6-63C8-4F7B-951A-B217F2CF26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260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4AC3F-F143-477D-BB12-1500F30296FD}" type="datetimeFigureOut">
              <a:rPr lang="en-GB" smtClean="0"/>
              <a:t>25/03/2025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0A3E6-63C8-4F7B-951A-B217F2CF26E3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295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etenze - Rebuffi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23" y="376216"/>
            <a:ext cx="2721339" cy="122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auree DEI Unip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582" y="376216"/>
            <a:ext cx="2094322" cy="122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5FEF536-530F-47E8-AC48-D2B4E832F4F0}"/>
              </a:ext>
            </a:extLst>
          </p:cNvPr>
          <p:cNvSpPr txBox="1"/>
          <p:nvPr/>
        </p:nvSpPr>
        <p:spPr>
          <a:xfrm>
            <a:off x="818588" y="2793448"/>
            <a:ext cx="74588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Compression </a:t>
            </a:r>
            <a:r>
              <a:rPr lang="en-US" sz="2800" b="1" dirty="0">
                <a:solidFill>
                  <a:schemeClr val="bg1"/>
                </a:solidFill>
                <a:cs typeface="Times New Roman" panose="02020603050405020304" pitchFamily="18" charset="0"/>
              </a:rPr>
              <a:t>of Sequencing Data for Phylogeny</a:t>
            </a:r>
          </a:p>
          <a:p>
            <a:pPr algn="ctr"/>
            <a:r>
              <a:rPr lang="it-IT" sz="28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Reconstruction</a:t>
            </a:r>
            <a:endParaRPr lang="en-GB" sz="40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615399" y="4127001"/>
            <a:ext cx="34836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000" dirty="0" smtClean="0">
                <a:solidFill>
                  <a:schemeClr val="bg1"/>
                </a:solidFill>
                <a:latin typeface="+mn-lt"/>
              </a:rPr>
              <a:t>Supervisor: Prof. Matteo </a:t>
            </a:r>
            <a:r>
              <a:rPr lang="it-IT" altLang="it-IT" sz="2000" dirty="0" err="1" smtClean="0">
                <a:solidFill>
                  <a:schemeClr val="bg1"/>
                </a:solidFill>
                <a:latin typeface="+mn-lt"/>
              </a:rPr>
              <a:t>Comin</a:t>
            </a:r>
            <a:endParaRPr lang="it-IT" altLang="it-IT" sz="2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" name="Text Box 15"/>
          <p:cNvSpPr txBox="1">
            <a:spLocks noChangeArrowheads="1"/>
          </p:cNvSpPr>
          <p:nvPr/>
        </p:nvSpPr>
        <p:spPr bwMode="auto">
          <a:xfrm>
            <a:off x="4948214" y="4742860"/>
            <a:ext cx="374410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000" dirty="0" smtClean="0">
                <a:solidFill>
                  <a:schemeClr val="bg1"/>
                </a:solidFill>
                <a:latin typeface="+mn-lt"/>
              </a:rPr>
              <a:t>Master Candidate: Andrea Nicetto</a:t>
            </a:r>
            <a:endParaRPr lang="it-IT" altLang="it-IT" sz="2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6823984" y="4125777"/>
            <a:ext cx="18149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000" dirty="0" smtClean="0">
                <a:solidFill>
                  <a:schemeClr val="bg1"/>
                </a:solidFill>
                <a:latin typeface="+mn-lt"/>
              </a:rPr>
              <a:t>March 26, 2025</a:t>
            </a:r>
            <a:endParaRPr lang="it-IT" altLang="it-IT" sz="2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2357222" y="1993228"/>
            <a:ext cx="438153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000" dirty="0" smtClean="0">
                <a:solidFill>
                  <a:schemeClr val="bg1"/>
                </a:solidFill>
                <a:latin typeface="+mn-lt"/>
              </a:rPr>
              <a:t>Master </a:t>
            </a:r>
            <a:r>
              <a:rPr lang="it-IT" altLang="it-IT" sz="2000" dirty="0" err="1" smtClean="0">
                <a:solidFill>
                  <a:schemeClr val="bg1"/>
                </a:solidFill>
                <a:latin typeface="+mn-lt"/>
              </a:rPr>
              <a:t>Degree</a:t>
            </a:r>
            <a:r>
              <a:rPr lang="it-IT" altLang="it-IT" sz="2000" dirty="0" smtClean="0">
                <a:solidFill>
                  <a:schemeClr val="bg1"/>
                </a:solidFill>
                <a:latin typeface="+mn-lt"/>
              </a:rPr>
              <a:t> in Computer </a:t>
            </a:r>
            <a:r>
              <a:rPr lang="it-IT" altLang="it-IT" sz="2000" dirty="0" err="1" smtClean="0">
                <a:solidFill>
                  <a:schemeClr val="bg1"/>
                </a:solidFill>
                <a:latin typeface="+mn-lt"/>
              </a:rPr>
              <a:t>Engineering</a:t>
            </a:r>
            <a:endParaRPr lang="it-IT" altLang="it-IT" sz="2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3096312" y="6068566"/>
            <a:ext cx="29033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it-IT" altLang="it-IT" sz="2000" dirty="0" err="1" smtClean="0">
                <a:solidFill>
                  <a:schemeClr val="bg1"/>
                </a:solidFill>
                <a:latin typeface="+mn-lt"/>
              </a:rPr>
              <a:t>Academic</a:t>
            </a:r>
            <a:r>
              <a:rPr lang="it-IT" altLang="it-IT" sz="2000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it-IT" altLang="it-IT" sz="2000" dirty="0" err="1" smtClean="0">
                <a:solidFill>
                  <a:schemeClr val="bg1"/>
                </a:solidFill>
                <a:latin typeface="+mn-lt"/>
              </a:rPr>
              <a:t>year</a:t>
            </a:r>
            <a:r>
              <a:rPr lang="it-IT" altLang="it-IT" sz="2000" dirty="0" smtClean="0">
                <a:solidFill>
                  <a:schemeClr val="bg1"/>
                </a:solidFill>
                <a:latin typeface="+mn-lt"/>
              </a:rPr>
              <a:t> 2024-2025</a:t>
            </a:r>
            <a:endParaRPr lang="it-IT" altLang="it-IT" sz="20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7192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96279B-60A4-FBFD-936C-9F066EC9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61926"/>
            <a:ext cx="6363277" cy="835601"/>
          </a:xfrm>
        </p:spPr>
        <p:txBody>
          <a:bodyPr/>
          <a:lstStyle/>
          <a:p>
            <a:r>
              <a:rPr lang="it-IT" dirty="0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Project </a:t>
            </a:r>
            <a:r>
              <a:rPr lang="it-IT" dirty="0" err="1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goals</a:t>
            </a:r>
            <a:endParaRPr lang="en-GB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C893D4-286B-1329-801F-7D653BBF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2107474"/>
            <a:ext cx="8175717" cy="2638698"/>
          </a:xfrm>
        </p:spPr>
        <p:txBody>
          <a:bodyPr>
            <a:normAutofit fontScale="92500"/>
          </a:bodyPr>
          <a:lstStyle/>
          <a:p>
            <a:r>
              <a:rPr lang="en-US" dirty="0"/>
              <a:t>Evaluate the impact of compression on sequencing reads, focusing on storage reduction and data </a:t>
            </a:r>
            <a:r>
              <a:rPr lang="en-US" dirty="0" smtClean="0"/>
              <a:t>integrity</a:t>
            </a:r>
          </a:p>
          <a:p>
            <a:r>
              <a:rPr lang="en-US" dirty="0"/>
              <a:t>Compare alignment-free phylogenetic methods on compressed and uncompressed </a:t>
            </a:r>
            <a:r>
              <a:rPr lang="en-US" dirty="0" smtClean="0"/>
              <a:t>data</a:t>
            </a:r>
          </a:p>
          <a:p>
            <a:r>
              <a:rPr lang="en-US" dirty="0"/>
              <a:t>Assess computational efficiency and phylogenetic accuracy, emphasizing execution time and tree similarity</a:t>
            </a:r>
            <a:endParaRPr lang="en-US" altLang="it-IT" dirty="0" smtClean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D32EFE-A163-BDAC-E147-2B1BE6E11CAE}"/>
              </a:ext>
            </a:extLst>
          </p:cNvPr>
          <p:cNvSpPr txBox="1"/>
          <p:nvPr/>
        </p:nvSpPr>
        <p:spPr>
          <a:xfrm>
            <a:off x="8142488" y="6400799"/>
            <a:ext cx="2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8163BC-3770-4EAB-A777-6681822CDCBD}" type="slidenum">
              <a:rPr lang="en-GB" smtClean="0">
                <a:solidFill>
                  <a:schemeClr val="bg1"/>
                </a:solidFill>
              </a:rPr>
              <a:t>2</a:t>
            </a:fld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926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96279B-60A4-FBFD-936C-9F066EC9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61926"/>
            <a:ext cx="6363277" cy="835601"/>
          </a:xfrm>
        </p:spPr>
        <p:txBody>
          <a:bodyPr/>
          <a:lstStyle/>
          <a:p>
            <a:r>
              <a:rPr lang="it-IT" dirty="0" err="1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Sequencing</a:t>
            </a:r>
            <a:r>
              <a:rPr lang="it-IT" dirty="0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Data </a:t>
            </a:r>
            <a:r>
              <a:rPr lang="it-IT" dirty="0" err="1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Growth</a:t>
            </a:r>
            <a:endParaRPr lang="en-GB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D32EFE-A163-BDAC-E147-2B1BE6E11CAE}"/>
              </a:ext>
            </a:extLst>
          </p:cNvPr>
          <p:cNvSpPr txBox="1"/>
          <p:nvPr/>
        </p:nvSpPr>
        <p:spPr>
          <a:xfrm>
            <a:off x="8142488" y="6400799"/>
            <a:ext cx="2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8163BC-3770-4EAB-A777-6681822CDCBD}" type="slidenum">
              <a:rPr lang="en-GB" smtClean="0">
                <a:solidFill>
                  <a:schemeClr val="bg1"/>
                </a:solidFill>
              </a:rPr>
              <a:t>3</a:t>
            </a:fld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96" y="1263206"/>
            <a:ext cx="7139892" cy="497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5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49" y="2673533"/>
            <a:ext cx="5957702" cy="354489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396279B-60A4-FBFD-936C-9F066EC9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61926"/>
            <a:ext cx="6363277" cy="835601"/>
          </a:xfrm>
        </p:spPr>
        <p:txBody>
          <a:bodyPr/>
          <a:lstStyle/>
          <a:p>
            <a:r>
              <a:rPr lang="it-IT" dirty="0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USTAR </a:t>
            </a:r>
            <a:r>
              <a:rPr lang="it-IT" dirty="0" err="1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compression</a:t>
            </a:r>
            <a:endParaRPr lang="en-GB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C893D4-286B-1329-801F-7D653BBF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393372"/>
            <a:ext cx="8149590" cy="128016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USTAR compresses sequencing data by merging sequences in a compacted de </a:t>
            </a:r>
            <a:r>
              <a:rPr lang="en-US" dirty="0" err="1"/>
              <a:t>Bruijn</a:t>
            </a:r>
            <a:r>
              <a:rPr lang="en-US" dirty="0"/>
              <a:t> graph, reducing </a:t>
            </a:r>
            <a:r>
              <a:rPr lang="en-US" dirty="0" smtClean="0"/>
              <a:t>redundancy</a:t>
            </a:r>
          </a:p>
          <a:p>
            <a:r>
              <a:rPr lang="en-US" dirty="0" smtClean="0"/>
              <a:t>It </a:t>
            </a:r>
            <a:r>
              <a:rPr lang="en-US" dirty="0"/>
              <a:t>preserves the k-</a:t>
            </a:r>
            <a:r>
              <a:rPr lang="en-US" dirty="0" err="1"/>
              <a:t>mer</a:t>
            </a:r>
            <a:r>
              <a:rPr lang="en-US" dirty="0"/>
              <a:t> spectrum and its distribution, ensuring that the frequency and composition of k-</a:t>
            </a:r>
            <a:r>
              <a:rPr lang="en-US" dirty="0" err="1"/>
              <a:t>mers</a:t>
            </a:r>
            <a:r>
              <a:rPr lang="en-US" dirty="0"/>
              <a:t> remain unchanged</a:t>
            </a:r>
          </a:p>
          <a:p>
            <a:endParaRPr lang="en-GB" dirty="0">
              <a:cs typeface="Times New Roman" panose="02020603050405020304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D32EFE-A163-BDAC-E147-2B1BE6E11CAE}"/>
              </a:ext>
            </a:extLst>
          </p:cNvPr>
          <p:cNvSpPr txBox="1"/>
          <p:nvPr/>
        </p:nvSpPr>
        <p:spPr>
          <a:xfrm>
            <a:off x="8142488" y="6400799"/>
            <a:ext cx="2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8163BC-3770-4EAB-A777-6681822CDCBD}" type="slidenum">
              <a:rPr lang="en-GB" smtClean="0">
                <a:solidFill>
                  <a:schemeClr val="bg1"/>
                </a:solidFill>
              </a:rPr>
              <a:t>4</a:t>
            </a:fld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6609804" y="3069379"/>
            <a:ext cx="21684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smtClean="0"/>
              <a:t>Generate:</a:t>
            </a:r>
            <a:br>
              <a:rPr lang="it-IT" sz="2800" dirty="0" smtClean="0"/>
            </a:br>
            <a:r>
              <a:rPr lang="it-IT" sz="2800" dirty="0" smtClean="0"/>
              <a:t>    </a:t>
            </a:r>
            <a:r>
              <a:rPr lang="it-IT" sz="2800" b="1" dirty="0" smtClean="0"/>
              <a:t>ACTTGA</a:t>
            </a:r>
            <a:br>
              <a:rPr lang="it-IT" sz="2800" b="1" dirty="0" smtClean="0"/>
            </a:br>
            <a:r>
              <a:rPr lang="it-IT" sz="2800" b="1" dirty="0" smtClean="0"/>
              <a:t>    CTGC</a:t>
            </a:r>
            <a:endParaRPr lang="it-IT" sz="2800" b="1" dirty="0"/>
          </a:p>
        </p:txBody>
      </p:sp>
    </p:spTree>
    <p:extLst>
      <p:ext uri="{BB962C8B-B14F-4D97-AF65-F5344CB8AC3E}">
        <p14:creationId xmlns:p14="http://schemas.microsoft.com/office/powerpoint/2010/main" val="268522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96279B-60A4-FBFD-936C-9F066EC9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61926"/>
            <a:ext cx="6363277" cy="835601"/>
          </a:xfrm>
        </p:spPr>
        <p:txBody>
          <a:bodyPr>
            <a:noAutofit/>
          </a:bodyPr>
          <a:lstStyle/>
          <a:p>
            <a:r>
              <a:rPr lang="it-IT" sz="4000" dirty="0" err="1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Phylogenetic</a:t>
            </a:r>
            <a:r>
              <a:rPr lang="it-IT" sz="4000" dirty="0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it-IT" sz="4000" dirty="0" err="1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reconstruction</a:t>
            </a:r>
            <a:endParaRPr lang="en-GB" sz="40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C893D4-286B-1329-801F-7D653BBF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3373"/>
            <a:ext cx="7905750" cy="1658587"/>
          </a:xfrm>
        </p:spPr>
        <p:txBody>
          <a:bodyPr>
            <a:normAutofit/>
          </a:bodyPr>
          <a:lstStyle/>
          <a:p>
            <a:r>
              <a:rPr lang="en-US" dirty="0" smtClean="0"/>
              <a:t>phyBWT2 - </a:t>
            </a:r>
            <a:r>
              <a:rPr lang="en-US" dirty="0"/>
              <a:t>Extended Burrows-Wheeler </a:t>
            </a:r>
            <a:r>
              <a:rPr lang="en-US" dirty="0" smtClean="0"/>
              <a:t>Transform</a:t>
            </a:r>
          </a:p>
          <a:p>
            <a:r>
              <a:rPr lang="en-US" dirty="0" smtClean="0">
                <a:cs typeface="Times New Roman" panose="02020603050405020304" pitchFamily="18" charset="0"/>
              </a:rPr>
              <a:t>Mash - </a:t>
            </a:r>
            <a:r>
              <a:rPr lang="en-US" dirty="0" err="1" smtClean="0">
                <a:cs typeface="Times New Roman" panose="02020603050405020304" pitchFamily="18" charset="0"/>
              </a:rPr>
              <a:t>MinHash</a:t>
            </a:r>
            <a:r>
              <a:rPr lang="en-US" dirty="0" smtClean="0">
                <a:cs typeface="Times New Roman" panose="02020603050405020304" pitchFamily="18" charset="0"/>
              </a:rPr>
              <a:t> Sketching</a:t>
            </a:r>
            <a:endParaRPr lang="en-US" sz="1000" dirty="0">
              <a:cs typeface="Times New Roman" panose="02020603050405020304" pitchFamily="18" charset="0"/>
            </a:endParaRPr>
          </a:p>
          <a:p>
            <a:r>
              <a:rPr lang="en-US" dirty="0" smtClean="0">
                <a:cs typeface="Times New Roman" panose="02020603050405020304" pitchFamily="18" charset="0"/>
              </a:rPr>
              <a:t>SANS - </a:t>
            </a:r>
            <a:r>
              <a:rPr lang="it-IT" dirty="0" err="1"/>
              <a:t>Genome</a:t>
            </a:r>
            <a:r>
              <a:rPr lang="it-IT" dirty="0"/>
              <a:t>-Wide Split Analysis</a:t>
            </a:r>
            <a:endParaRPr lang="en-GB" dirty="0">
              <a:cs typeface="Times New Roman" panose="02020603050405020304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D32EFE-A163-BDAC-E147-2B1BE6E11CAE}"/>
              </a:ext>
            </a:extLst>
          </p:cNvPr>
          <p:cNvSpPr txBox="1"/>
          <p:nvPr/>
        </p:nvSpPr>
        <p:spPr>
          <a:xfrm>
            <a:off x="8142488" y="6400799"/>
            <a:ext cx="2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8163BC-3770-4EAB-A777-6681822CDCBD}" type="slidenum">
              <a:rPr lang="en-GB" smtClean="0">
                <a:solidFill>
                  <a:schemeClr val="bg1"/>
                </a:solidFill>
              </a:rPr>
              <a:t>5</a:t>
            </a:fld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4" name="Immagin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53" y="2917375"/>
            <a:ext cx="8518544" cy="332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54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96279B-60A4-FBFD-936C-9F066EC9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61926"/>
            <a:ext cx="6363277" cy="835601"/>
          </a:xfrm>
        </p:spPr>
        <p:txBody>
          <a:bodyPr/>
          <a:lstStyle/>
          <a:p>
            <a:r>
              <a:rPr lang="it-IT" dirty="0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Pipeline </a:t>
            </a:r>
            <a:r>
              <a:rPr lang="it-IT" dirty="0" err="1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Overview</a:t>
            </a:r>
            <a:endParaRPr lang="en-GB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D32EFE-A163-BDAC-E147-2B1BE6E11CAE}"/>
              </a:ext>
            </a:extLst>
          </p:cNvPr>
          <p:cNvSpPr txBox="1"/>
          <p:nvPr/>
        </p:nvSpPr>
        <p:spPr>
          <a:xfrm>
            <a:off x="8142488" y="6400799"/>
            <a:ext cx="2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8163BC-3770-4EAB-A777-6681822CDCBD}" type="slidenum">
              <a:rPr lang="en-GB" smtClean="0">
                <a:solidFill>
                  <a:schemeClr val="bg1"/>
                </a:solidFill>
              </a:rPr>
              <a:t>6</a:t>
            </a:fld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9"/>
          <a:stretch/>
        </p:blipFill>
        <p:spPr>
          <a:xfrm>
            <a:off x="95791" y="1256469"/>
            <a:ext cx="8941877" cy="497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0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96279B-60A4-FBFD-936C-9F066EC9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61926"/>
            <a:ext cx="6363277" cy="835601"/>
          </a:xfrm>
        </p:spPr>
        <p:txBody>
          <a:bodyPr/>
          <a:lstStyle/>
          <a:p>
            <a:r>
              <a:rPr lang="it-IT" dirty="0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Data </a:t>
            </a:r>
            <a:r>
              <a:rPr lang="it-IT" dirty="0" err="1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Compression</a:t>
            </a:r>
            <a:endParaRPr lang="en-GB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D32EFE-A163-BDAC-E147-2B1BE6E11CAE}"/>
              </a:ext>
            </a:extLst>
          </p:cNvPr>
          <p:cNvSpPr txBox="1"/>
          <p:nvPr/>
        </p:nvSpPr>
        <p:spPr>
          <a:xfrm>
            <a:off x="8142488" y="6400799"/>
            <a:ext cx="2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8163BC-3770-4EAB-A777-6681822CDCBD}" type="slidenum">
              <a:rPr lang="en-GB" smtClean="0">
                <a:solidFill>
                  <a:schemeClr val="bg1"/>
                </a:solidFill>
              </a:rPr>
              <a:t>7</a:t>
            </a:fld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89" y="1410407"/>
            <a:ext cx="8288928" cy="4831700"/>
          </a:xfrm>
          <a:prstGeom prst="rect">
            <a:avLst/>
          </a:prstGeom>
        </p:spPr>
      </p:pic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65C893D4-286B-1329-801F-7D653BBF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251715"/>
            <a:ext cx="7604895" cy="611618"/>
          </a:xfrm>
        </p:spPr>
        <p:txBody>
          <a:bodyPr>
            <a:noAutofit/>
          </a:bodyPr>
          <a:lstStyle/>
          <a:p>
            <a:r>
              <a:rPr lang="en-US" sz="2000" dirty="0"/>
              <a:t>Simulated dataset size across different coverage levels and USTAR compression settings</a:t>
            </a:r>
            <a:endParaRPr lang="en-GB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567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49" y="1419498"/>
            <a:ext cx="7787382" cy="4824548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396279B-60A4-FBFD-936C-9F066EC9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61926"/>
            <a:ext cx="6363277" cy="835601"/>
          </a:xfrm>
        </p:spPr>
        <p:txBody>
          <a:bodyPr/>
          <a:lstStyle/>
          <a:p>
            <a:r>
              <a:rPr lang="it-IT" dirty="0" err="1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Execution</a:t>
            </a:r>
            <a:r>
              <a:rPr lang="it-IT" dirty="0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Time</a:t>
            </a:r>
            <a:endParaRPr lang="en-GB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D32EFE-A163-BDAC-E147-2B1BE6E11CAE}"/>
              </a:ext>
            </a:extLst>
          </p:cNvPr>
          <p:cNvSpPr txBox="1"/>
          <p:nvPr/>
        </p:nvSpPr>
        <p:spPr>
          <a:xfrm>
            <a:off x="8142488" y="6400799"/>
            <a:ext cx="2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8163BC-3770-4EAB-A777-6681822CDCBD}" type="slidenum">
              <a:rPr lang="en-GB" smtClean="0">
                <a:solidFill>
                  <a:schemeClr val="bg1"/>
                </a:solidFill>
              </a:rPr>
              <a:t>8</a:t>
            </a:fld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65C893D4-286B-1329-801F-7D653BBF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60" y="1280161"/>
            <a:ext cx="8570830" cy="418012"/>
          </a:xfrm>
        </p:spPr>
        <p:txBody>
          <a:bodyPr>
            <a:noAutofit/>
          </a:bodyPr>
          <a:lstStyle/>
          <a:p>
            <a:r>
              <a:rPr lang="en-US" sz="1800" dirty="0"/>
              <a:t>Execution times of phyBWT2 on the </a:t>
            </a:r>
            <a:r>
              <a:rPr lang="en-US" sz="1800" dirty="0" smtClean="0"/>
              <a:t>Simulated </a:t>
            </a:r>
            <a:r>
              <a:rPr lang="en-US" sz="1800" dirty="0"/>
              <a:t>dataset </a:t>
            </a:r>
            <a:r>
              <a:rPr lang="en-US" sz="1800" dirty="0" smtClean="0"/>
              <a:t>at </a:t>
            </a:r>
            <a:r>
              <a:rPr lang="en-US" sz="1800" dirty="0"/>
              <a:t>different compression </a:t>
            </a:r>
            <a:r>
              <a:rPr lang="en-US" sz="1800" dirty="0" smtClean="0"/>
              <a:t>levels</a:t>
            </a:r>
            <a:endParaRPr lang="en-GB" sz="1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221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4" y="2251865"/>
            <a:ext cx="9030789" cy="335933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396279B-60A4-FBFD-936C-9F066EC9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61926"/>
            <a:ext cx="6363277" cy="835601"/>
          </a:xfrm>
        </p:spPr>
        <p:txBody>
          <a:bodyPr/>
          <a:lstStyle/>
          <a:p>
            <a:r>
              <a:rPr lang="it-IT" dirty="0" err="1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Phylogenetic</a:t>
            </a:r>
            <a:r>
              <a:rPr lang="it-IT" dirty="0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it-IT" dirty="0" err="1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accuracy</a:t>
            </a:r>
            <a:endParaRPr lang="en-GB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D32EFE-A163-BDAC-E147-2B1BE6E11CAE}"/>
              </a:ext>
            </a:extLst>
          </p:cNvPr>
          <p:cNvSpPr txBox="1"/>
          <p:nvPr/>
        </p:nvSpPr>
        <p:spPr>
          <a:xfrm>
            <a:off x="8142488" y="6400799"/>
            <a:ext cx="2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8163BC-3770-4EAB-A777-6681822CDCBD}" type="slidenum">
              <a:rPr lang="en-GB" smtClean="0">
                <a:solidFill>
                  <a:schemeClr val="bg1"/>
                </a:solidFill>
              </a:rPr>
              <a:t>9</a:t>
            </a:fld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65C893D4-286B-1329-801F-7D653BBF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804" y="1649496"/>
            <a:ext cx="8485687" cy="693110"/>
          </a:xfrm>
        </p:spPr>
        <p:txBody>
          <a:bodyPr>
            <a:noAutofit/>
          </a:bodyPr>
          <a:lstStyle/>
          <a:p>
            <a:r>
              <a:rPr lang="en-US" sz="2000" dirty="0"/>
              <a:t>Robinson-</a:t>
            </a:r>
            <a:r>
              <a:rPr lang="en-US" sz="2000" dirty="0" err="1"/>
              <a:t>Foulds</a:t>
            </a:r>
            <a:r>
              <a:rPr lang="en-US" sz="2000" dirty="0"/>
              <a:t> distance on the </a:t>
            </a:r>
            <a:r>
              <a:rPr lang="en-US" sz="2000" dirty="0" smtClean="0"/>
              <a:t>Simulated </a:t>
            </a:r>
            <a:r>
              <a:rPr lang="en-US" sz="2000" dirty="0"/>
              <a:t>dataset with USTAR compression at </a:t>
            </a:r>
            <a:r>
              <a:rPr lang="en-US" sz="2000" dirty="0" smtClean="0"/>
              <a:t>k-</a:t>
            </a:r>
            <a:r>
              <a:rPr lang="en-US" sz="2000" dirty="0" err="1" smtClean="0"/>
              <a:t>mer</a:t>
            </a:r>
            <a:r>
              <a:rPr lang="en-US" sz="2000" dirty="0" smtClean="0"/>
              <a:t> size equal to k=21</a:t>
            </a:r>
            <a:endParaRPr lang="en-GB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05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96279B-60A4-FBFD-936C-9F066EC9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61926"/>
            <a:ext cx="6363277" cy="835601"/>
          </a:xfrm>
        </p:spPr>
        <p:txBody>
          <a:bodyPr/>
          <a:lstStyle/>
          <a:p>
            <a:r>
              <a:rPr lang="it-IT" dirty="0" err="1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Conclusions</a:t>
            </a:r>
            <a:endParaRPr lang="en-GB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D32EFE-A163-BDAC-E147-2B1BE6E11CAE}"/>
              </a:ext>
            </a:extLst>
          </p:cNvPr>
          <p:cNvSpPr txBox="1"/>
          <p:nvPr/>
        </p:nvSpPr>
        <p:spPr>
          <a:xfrm>
            <a:off x="8142488" y="6400799"/>
            <a:ext cx="496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8163BC-3770-4EAB-A777-6681822CDCBD}" type="slidenum">
              <a:rPr lang="en-GB" smtClean="0">
                <a:solidFill>
                  <a:schemeClr val="bg1"/>
                </a:solidFill>
              </a:rPr>
              <a:t>10</a:t>
            </a:fld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65C893D4-286B-1329-801F-7D653BBF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2107473"/>
            <a:ext cx="8175717" cy="2899955"/>
          </a:xfrm>
        </p:spPr>
        <p:txBody>
          <a:bodyPr>
            <a:normAutofit/>
          </a:bodyPr>
          <a:lstStyle/>
          <a:p>
            <a:r>
              <a:rPr lang="en-US" dirty="0"/>
              <a:t>USTAR efficiently reduces dataset size, optimizing storage </a:t>
            </a:r>
            <a:r>
              <a:rPr lang="en-US" dirty="0" smtClean="0"/>
              <a:t>space</a:t>
            </a:r>
          </a:p>
          <a:p>
            <a:r>
              <a:rPr lang="en-US" dirty="0"/>
              <a:t>Compression reduces execution times while preserving the quality of the phylogenetic trees produced by the reconstruction </a:t>
            </a:r>
            <a:r>
              <a:rPr lang="en-US" dirty="0" smtClean="0"/>
              <a:t>software</a:t>
            </a:r>
          </a:p>
        </p:txBody>
      </p:sp>
    </p:spTree>
    <p:extLst>
      <p:ext uri="{BB962C8B-B14F-4D97-AF65-F5344CB8AC3E}">
        <p14:creationId xmlns:p14="http://schemas.microsoft.com/office/powerpoint/2010/main" val="208984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18606" y="3248297"/>
            <a:ext cx="7593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dirty="0" err="1" smtClean="0">
                <a:solidFill>
                  <a:schemeClr val="bg1"/>
                </a:solidFill>
              </a:rPr>
              <a:t>Thanks</a:t>
            </a:r>
            <a:r>
              <a:rPr lang="it-IT" sz="5400" dirty="0" smtClean="0">
                <a:solidFill>
                  <a:schemeClr val="bg1"/>
                </a:solidFill>
              </a:rPr>
              <a:t> for </a:t>
            </a:r>
            <a:r>
              <a:rPr lang="it-IT" sz="5400" dirty="0" err="1" smtClean="0">
                <a:solidFill>
                  <a:schemeClr val="bg1"/>
                </a:solidFill>
              </a:rPr>
              <a:t>your</a:t>
            </a:r>
            <a:r>
              <a:rPr lang="it-IT" sz="5400" dirty="0" smtClean="0">
                <a:solidFill>
                  <a:schemeClr val="bg1"/>
                </a:solidFill>
              </a:rPr>
              <a:t> </a:t>
            </a:r>
            <a:r>
              <a:rPr lang="it-IT" sz="5400" dirty="0" err="1" smtClean="0">
                <a:solidFill>
                  <a:schemeClr val="bg1"/>
                </a:solidFill>
              </a:rPr>
              <a:t>attention</a:t>
            </a:r>
            <a:r>
              <a:rPr lang="it-IT" sz="5400" dirty="0" smtClean="0">
                <a:solidFill>
                  <a:schemeClr val="bg1"/>
                </a:solidFill>
              </a:rPr>
              <a:t>!</a:t>
            </a:r>
            <a:endParaRPr lang="it-IT" sz="5400" dirty="0">
              <a:solidFill>
                <a:schemeClr val="bg1"/>
              </a:solidFill>
            </a:endParaRPr>
          </a:p>
        </p:txBody>
      </p:sp>
      <p:pic>
        <p:nvPicPr>
          <p:cNvPr id="13" name="Picture 2" descr="Competenze - Rebuffi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23" y="376216"/>
            <a:ext cx="2721339" cy="122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Lauree DEI Unip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582" y="376216"/>
            <a:ext cx="2094322" cy="122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50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9875" y="1323700"/>
            <a:ext cx="4534125" cy="4833256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2396279B-60A4-FBFD-936C-9F066EC9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61926"/>
            <a:ext cx="6363277" cy="835601"/>
          </a:xfrm>
        </p:spPr>
        <p:txBody>
          <a:bodyPr/>
          <a:lstStyle/>
          <a:p>
            <a:r>
              <a:rPr lang="it-IT" dirty="0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Extra </a:t>
            </a:r>
            <a:endParaRPr lang="en-GB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D32EFE-A163-BDAC-E147-2B1BE6E11CAE}"/>
              </a:ext>
            </a:extLst>
          </p:cNvPr>
          <p:cNvSpPr txBox="1"/>
          <p:nvPr/>
        </p:nvSpPr>
        <p:spPr>
          <a:xfrm>
            <a:off x="8142488" y="6400799"/>
            <a:ext cx="2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 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3700"/>
            <a:ext cx="4815840" cy="483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66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96279B-60A4-FBFD-936C-9F066EC9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61926"/>
            <a:ext cx="6363277" cy="835601"/>
          </a:xfrm>
        </p:spPr>
        <p:txBody>
          <a:bodyPr/>
          <a:lstStyle/>
          <a:p>
            <a:r>
              <a:rPr lang="it-IT" dirty="0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Extra </a:t>
            </a:r>
            <a:endParaRPr lang="en-GB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D32EFE-A163-BDAC-E147-2B1BE6E11CAE}"/>
              </a:ext>
            </a:extLst>
          </p:cNvPr>
          <p:cNvSpPr txBox="1"/>
          <p:nvPr/>
        </p:nvSpPr>
        <p:spPr>
          <a:xfrm>
            <a:off x="8142488" y="6400799"/>
            <a:ext cx="2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 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700" y="1358537"/>
            <a:ext cx="3002553" cy="4741898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32" y="1943400"/>
            <a:ext cx="4929051" cy="3572173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383177" y="5643154"/>
            <a:ext cx="4929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S</a:t>
            </a:r>
            <a:r>
              <a:rPr lang="it-IT" dirty="0" smtClean="0"/>
              <a:t>={</a:t>
            </a:r>
            <a:r>
              <a:rPr lang="it-IT" i="1" dirty="0"/>
              <a:t>GGCGTACCA</a:t>
            </a:r>
            <a:r>
              <a:rPr lang="it-IT" i="1" dirty="0" smtClean="0"/>
              <a:t>, ACGAGTACGACT, GGGGCGTATT</a:t>
            </a:r>
            <a:r>
              <a:rPr lang="it-IT" dirty="0" smtClean="0"/>
              <a:t>}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6299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96279B-60A4-FBFD-936C-9F066EC9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61926"/>
            <a:ext cx="6363277" cy="835601"/>
          </a:xfrm>
        </p:spPr>
        <p:txBody>
          <a:bodyPr/>
          <a:lstStyle/>
          <a:p>
            <a:r>
              <a:rPr lang="it-IT" dirty="0" smtClean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Extra </a:t>
            </a:r>
            <a:endParaRPr lang="en-GB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9D32EFE-A163-BDAC-E147-2B1BE6E11CAE}"/>
              </a:ext>
            </a:extLst>
          </p:cNvPr>
          <p:cNvSpPr txBox="1"/>
          <p:nvPr/>
        </p:nvSpPr>
        <p:spPr>
          <a:xfrm>
            <a:off x="8142488" y="6400799"/>
            <a:ext cx="273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 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021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1212</TotalTime>
  <Words>229</Words>
  <Application>Microsoft Office PowerPoint</Application>
  <PresentationFormat>Presentazione su schermo (4:3)</PresentationFormat>
  <Paragraphs>47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Tema di Office</vt:lpstr>
      <vt:lpstr>Presentazione standard di PowerPoint</vt:lpstr>
      <vt:lpstr>Project goals</vt:lpstr>
      <vt:lpstr>Sequencing Data Growth</vt:lpstr>
      <vt:lpstr>USTAR compression</vt:lpstr>
      <vt:lpstr>Phylogenetic reconstruction</vt:lpstr>
      <vt:lpstr>Pipeline Overview</vt:lpstr>
      <vt:lpstr>Data Compression</vt:lpstr>
      <vt:lpstr>Execution Time</vt:lpstr>
      <vt:lpstr>Phylogenetic accuracy</vt:lpstr>
      <vt:lpstr>Conclusions</vt:lpstr>
      <vt:lpstr>Presentazione standard di PowerPoint</vt:lpstr>
      <vt:lpstr>Extra </vt:lpstr>
      <vt:lpstr>Extra </vt:lpstr>
      <vt:lpstr>Extra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Fabio Minorello</dc:creator>
  <cp:lastModifiedBy>andrea.nicetto00@gmail.com</cp:lastModifiedBy>
  <cp:revision>38</cp:revision>
  <dcterms:created xsi:type="dcterms:W3CDTF">2022-09-17T10:18:05Z</dcterms:created>
  <dcterms:modified xsi:type="dcterms:W3CDTF">2025-03-25T10:21:49Z</dcterms:modified>
</cp:coreProperties>
</file>